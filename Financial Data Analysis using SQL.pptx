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9" r:id="rId3"/>
    <p:sldId id="257" r:id="rId4"/>
    <p:sldId id="261" r:id="rId5"/>
    <p:sldId id="273" r:id="rId6"/>
    <p:sldId id="274" r:id="rId7"/>
    <p:sldId id="275" r:id="rId8"/>
    <p:sldId id="276" r:id="rId9"/>
    <p:sldId id="277" r:id="rId10"/>
    <p:sldId id="278" r:id="rId11"/>
    <p:sldId id="272" r:id="rId12"/>
    <p:sldId id="27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0548-7D15-AD3C-54EA-E2DE029AE2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B5E4D7-AEA0-C9F1-6F8D-F2681E4B65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3ECD4D-2417-4801-7F0B-4982F2C9CBB1}"/>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5" name="Footer Placeholder 4">
            <a:extLst>
              <a:ext uri="{FF2B5EF4-FFF2-40B4-BE49-F238E27FC236}">
                <a16:creationId xmlns:a16="http://schemas.microsoft.com/office/drawing/2014/main" id="{8AB2D7ED-6E07-95F0-6225-DDA136EF1F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DB7E50-EEB8-7011-2C3B-6041B9FB144D}"/>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204536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C368E-EE50-C5B2-8430-3AB4806BC2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B75869-327A-7054-A871-64C2C3554C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DB9C13-C0ED-D2B6-CD8E-E0C726A9AB17}"/>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5" name="Footer Placeholder 4">
            <a:extLst>
              <a:ext uri="{FF2B5EF4-FFF2-40B4-BE49-F238E27FC236}">
                <a16:creationId xmlns:a16="http://schemas.microsoft.com/office/drawing/2014/main" id="{F7534626-E2AE-A657-4412-5B7C0D0FD0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D56DD-A3E7-E0A5-7A72-F80413A79FD8}"/>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1676437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DDE0A-FCDD-804C-4BBA-9814E9A416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2203B9F-A5F0-08A3-3D57-E90506704C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218B3F-6535-B806-6AF5-C97DA6278F47}"/>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5" name="Footer Placeholder 4">
            <a:extLst>
              <a:ext uri="{FF2B5EF4-FFF2-40B4-BE49-F238E27FC236}">
                <a16:creationId xmlns:a16="http://schemas.microsoft.com/office/drawing/2014/main" id="{0FD1114C-775B-8DC6-6F8B-B7C3D21239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DDDBE3-9F78-E778-E0F6-E3374203B1F1}"/>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324604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05CA-BFF1-8B2B-8C74-3FA1DA42E0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4EEC50-0484-A8DF-B0F9-9143474052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93B556-B586-0939-4807-2316AFBD10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547E91-1287-9C59-D507-444B7E8D54EA}"/>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6" name="Footer Placeholder 5">
            <a:extLst>
              <a:ext uri="{FF2B5EF4-FFF2-40B4-BE49-F238E27FC236}">
                <a16:creationId xmlns:a16="http://schemas.microsoft.com/office/drawing/2014/main" id="{49FFFBCD-D197-A273-0D8B-CBD47E9F4C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2F1D7E-8FDE-A22E-8DC7-6CBB71BF5803}"/>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642492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3733-6B2A-6B66-EAA6-93E8E2E0B4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0EFFCE7-53F9-6D02-25A3-E16DED3487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B5D8DA-DFB3-80AD-F7D4-4944062869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F0B3A2-AB25-8158-67DB-412BC535AB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C29A7-FBB1-3436-3F3D-DB954CE32F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391F91-34AE-FFED-0E7F-44B65E023FD0}"/>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8" name="Footer Placeholder 7">
            <a:extLst>
              <a:ext uri="{FF2B5EF4-FFF2-40B4-BE49-F238E27FC236}">
                <a16:creationId xmlns:a16="http://schemas.microsoft.com/office/drawing/2014/main" id="{536ED44B-F800-1056-1281-949836D14A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C25D01-B91D-83D7-C1FE-0532D301B434}"/>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30395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CFC6-CF23-EE53-6B4E-56B35169B9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4DCCCA-0204-F106-3DA0-BB078DF6DAF2}"/>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4" name="Footer Placeholder 3">
            <a:extLst>
              <a:ext uri="{FF2B5EF4-FFF2-40B4-BE49-F238E27FC236}">
                <a16:creationId xmlns:a16="http://schemas.microsoft.com/office/drawing/2014/main" id="{498D5B0A-3C92-7DDB-2749-2386EF6328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5569F8-1F9D-FD0C-253E-381577FC2E7B}"/>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521473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CEEF4C-A5F1-ED60-A0F6-202567BFF010}"/>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3" name="Footer Placeholder 2">
            <a:extLst>
              <a:ext uri="{FF2B5EF4-FFF2-40B4-BE49-F238E27FC236}">
                <a16:creationId xmlns:a16="http://schemas.microsoft.com/office/drawing/2014/main" id="{35EAC29E-5624-15C7-7F47-0AB34BFDFE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617D91-EF61-2C16-766F-90D82CEDAF0A}"/>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237397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E0F9-903D-B71F-5D06-8B25E0DC32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3CB20B-A164-78E7-D12C-890928F18C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58CB9F-5FC0-1A0B-F5A9-AC847CEC9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D1D05-48AF-68BC-CD70-2F5FE23B3BE8}"/>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6" name="Footer Placeholder 5">
            <a:extLst>
              <a:ext uri="{FF2B5EF4-FFF2-40B4-BE49-F238E27FC236}">
                <a16:creationId xmlns:a16="http://schemas.microsoft.com/office/drawing/2014/main" id="{EDE289F8-5F28-CCE5-E209-AE61E404C2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FC7800-DFA3-B6CF-6806-5DEADA120581}"/>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2459578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34441-6314-131F-9694-0A0A44ED1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9EB4F3-B587-74CF-0F10-156F3EB54D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64E6E8-EB85-FB3B-909D-026B9340E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5E842-8B47-2898-3F9E-4B8EA03A2932}"/>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6" name="Footer Placeholder 5">
            <a:extLst>
              <a:ext uri="{FF2B5EF4-FFF2-40B4-BE49-F238E27FC236}">
                <a16:creationId xmlns:a16="http://schemas.microsoft.com/office/drawing/2014/main" id="{A8427E77-DF18-E5E9-9CEB-30C4C15F8A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98D35B-75A0-F463-6144-CCEF8BC50109}"/>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2543829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5B68-C2A5-C393-9A97-438CC4002D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C3743D-59F9-76A9-521C-345F3A0FDC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2CEFB9-AE6A-C66E-7168-C9DA10DF0FC0}"/>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5" name="Footer Placeholder 4">
            <a:extLst>
              <a:ext uri="{FF2B5EF4-FFF2-40B4-BE49-F238E27FC236}">
                <a16:creationId xmlns:a16="http://schemas.microsoft.com/office/drawing/2014/main" id="{99AD509E-F676-223B-1F92-33F3362CA3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08EA46-C16E-8874-7371-89843F9CB793}"/>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3580467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3719ED-3A5C-B927-A502-8CC9646E98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9EEE77-A466-C864-8756-90400DFF07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F1A118-17B4-33E1-1036-9FB97DCDB76F}"/>
              </a:ext>
            </a:extLst>
          </p:cNvPr>
          <p:cNvSpPr>
            <a:spLocks noGrp="1"/>
          </p:cNvSpPr>
          <p:nvPr>
            <p:ph type="dt" sz="half" idx="10"/>
          </p:nvPr>
        </p:nvSpPr>
        <p:spPr/>
        <p:txBody>
          <a:bodyPr/>
          <a:lstStyle/>
          <a:p>
            <a:fld id="{8E11E0DA-B510-48F3-B77A-27585BEAA533}" type="datetimeFigureOut">
              <a:rPr lang="en-IN" smtClean="0"/>
              <a:t>21-01-2026</a:t>
            </a:fld>
            <a:endParaRPr lang="en-IN"/>
          </a:p>
        </p:txBody>
      </p:sp>
      <p:sp>
        <p:nvSpPr>
          <p:cNvPr id="5" name="Footer Placeholder 4">
            <a:extLst>
              <a:ext uri="{FF2B5EF4-FFF2-40B4-BE49-F238E27FC236}">
                <a16:creationId xmlns:a16="http://schemas.microsoft.com/office/drawing/2014/main" id="{2BD6C466-7837-AD25-93AD-9C59AAA566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B86FC1-33A1-C946-24FE-228A10B3D1C5}"/>
              </a:ext>
            </a:extLst>
          </p:cNvPr>
          <p:cNvSpPr>
            <a:spLocks noGrp="1"/>
          </p:cNvSpPr>
          <p:nvPr>
            <p:ph type="sldNum" sz="quarter" idx="12"/>
          </p:nvPr>
        </p:nvSpPr>
        <p:spPr/>
        <p:txBody>
          <a:bodyPr/>
          <a:lstStyle/>
          <a:p>
            <a:fld id="{DEC2EC98-3B2A-46A6-8193-7C2EADCAB299}" type="slidenum">
              <a:rPr lang="en-IN" smtClean="0"/>
              <a:t>‹#›</a:t>
            </a:fld>
            <a:endParaRPr lang="en-IN"/>
          </a:p>
        </p:txBody>
      </p:sp>
    </p:spTree>
    <p:extLst>
      <p:ext uri="{BB962C8B-B14F-4D97-AF65-F5344CB8AC3E}">
        <p14:creationId xmlns:p14="http://schemas.microsoft.com/office/powerpoint/2010/main" val="962356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341AB8-795C-3130-B1B6-248D37C00B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5AE862-3487-9CCB-9658-94D5174C8C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47171B-43B3-8F37-1F7C-9D474E55C0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1E0DA-B510-48F3-B77A-27585BEAA533}" type="datetimeFigureOut">
              <a:rPr lang="en-IN" smtClean="0"/>
              <a:t>21-01-2026</a:t>
            </a:fld>
            <a:endParaRPr lang="en-IN"/>
          </a:p>
        </p:txBody>
      </p:sp>
      <p:sp>
        <p:nvSpPr>
          <p:cNvPr id="5" name="Footer Placeholder 4">
            <a:extLst>
              <a:ext uri="{FF2B5EF4-FFF2-40B4-BE49-F238E27FC236}">
                <a16:creationId xmlns:a16="http://schemas.microsoft.com/office/drawing/2014/main" id="{F408541C-B89A-274B-E978-7D518E3588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37C638-FE0F-0CAF-B00B-0468967CBE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2EC98-3B2A-46A6-8193-7C2EADCAB299}" type="slidenum">
              <a:rPr lang="en-IN" smtClean="0"/>
              <a:t>‹#›</a:t>
            </a:fld>
            <a:endParaRPr lang="en-IN"/>
          </a:p>
        </p:txBody>
      </p:sp>
    </p:spTree>
    <p:extLst>
      <p:ext uri="{BB962C8B-B14F-4D97-AF65-F5344CB8AC3E}">
        <p14:creationId xmlns:p14="http://schemas.microsoft.com/office/powerpoint/2010/main" val="407693208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FD3D9-847C-8434-37BB-A34D33887144}"/>
              </a:ext>
            </a:extLst>
          </p:cNvPr>
          <p:cNvSpPr>
            <a:spLocks noGrp="1"/>
          </p:cNvSpPr>
          <p:nvPr>
            <p:ph type="ctrTitle"/>
          </p:nvPr>
        </p:nvSpPr>
        <p:spPr>
          <a:xfrm>
            <a:off x="727588" y="1790956"/>
            <a:ext cx="9517626" cy="2387600"/>
          </a:xfrm>
        </p:spPr>
        <p:txBody>
          <a:bodyPr/>
          <a:lstStyle/>
          <a:p>
            <a:pPr algn="l"/>
            <a:r>
              <a:rPr lang="en-IN" b="1" dirty="0"/>
              <a:t>Financial Data Analysis using SQL</a:t>
            </a:r>
          </a:p>
        </p:txBody>
      </p:sp>
      <p:sp>
        <p:nvSpPr>
          <p:cNvPr id="3" name="Subtitle 2">
            <a:extLst>
              <a:ext uri="{FF2B5EF4-FFF2-40B4-BE49-F238E27FC236}">
                <a16:creationId xmlns:a16="http://schemas.microsoft.com/office/drawing/2014/main" id="{17BB0792-D93D-D0C5-3C7D-7D9FE5924AB8}"/>
              </a:ext>
            </a:extLst>
          </p:cNvPr>
          <p:cNvSpPr>
            <a:spLocks noGrp="1"/>
          </p:cNvSpPr>
          <p:nvPr>
            <p:ph type="subTitle" idx="1"/>
          </p:nvPr>
        </p:nvSpPr>
        <p:spPr>
          <a:xfrm>
            <a:off x="727588" y="4402450"/>
            <a:ext cx="9144000" cy="1655762"/>
          </a:xfrm>
        </p:spPr>
        <p:txBody>
          <a:bodyPr>
            <a:normAutofit lnSpcReduction="10000"/>
          </a:bodyPr>
          <a:lstStyle/>
          <a:p>
            <a:pPr algn="l"/>
            <a:r>
              <a:rPr lang="en-IN" dirty="0"/>
              <a:t>Prepared By :</a:t>
            </a:r>
            <a:r>
              <a:rPr lang="en-IN" b="1" dirty="0"/>
              <a:t> Siddhika Wake</a:t>
            </a:r>
          </a:p>
          <a:p>
            <a:pPr algn="l"/>
            <a:r>
              <a:rPr lang="en-IN" dirty="0"/>
              <a:t>Role : </a:t>
            </a:r>
            <a:r>
              <a:rPr lang="en-IN" b="1" dirty="0"/>
              <a:t>Fresher Data Analyst</a:t>
            </a:r>
          </a:p>
          <a:p>
            <a:pPr algn="l"/>
            <a:r>
              <a:rPr lang="en-US" dirty="0"/>
              <a:t>Domain: </a:t>
            </a:r>
            <a:r>
              <a:rPr lang="en-US" b="1" dirty="0"/>
              <a:t>Finance Analytics | Data Analysis | Banking</a:t>
            </a:r>
          </a:p>
          <a:p>
            <a:pPr algn="l"/>
            <a:r>
              <a:rPr lang="en-US" dirty="0"/>
              <a:t>Tools Used : </a:t>
            </a:r>
            <a:r>
              <a:rPr lang="en-US" b="1" dirty="0"/>
              <a:t>SQL(My SQL)</a:t>
            </a:r>
          </a:p>
          <a:p>
            <a:pPr algn="just"/>
            <a:endParaRPr lang="en-IN" b="1" dirty="0"/>
          </a:p>
          <a:p>
            <a:endParaRPr lang="en-IN" b="1" dirty="0"/>
          </a:p>
        </p:txBody>
      </p:sp>
      <p:sp>
        <p:nvSpPr>
          <p:cNvPr id="5" name="TextBox 4">
            <a:extLst>
              <a:ext uri="{FF2B5EF4-FFF2-40B4-BE49-F238E27FC236}">
                <a16:creationId xmlns:a16="http://schemas.microsoft.com/office/drawing/2014/main" id="{BAE65A0C-4E91-B842-A947-E1BE89A999D4}"/>
              </a:ext>
            </a:extLst>
          </p:cNvPr>
          <p:cNvSpPr txBox="1"/>
          <p:nvPr/>
        </p:nvSpPr>
        <p:spPr>
          <a:xfrm>
            <a:off x="727588" y="1627669"/>
            <a:ext cx="2989007" cy="523220"/>
          </a:xfrm>
          <a:prstGeom prst="rect">
            <a:avLst/>
          </a:prstGeom>
          <a:noFill/>
        </p:spPr>
        <p:txBody>
          <a:bodyPr wrap="square" rtlCol="0">
            <a:spAutoFit/>
          </a:bodyPr>
          <a:lstStyle/>
          <a:p>
            <a:r>
              <a:rPr lang="en-IN" sz="2800" dirty="0"/>
              <a:t>Report on</a:t>
            </a:r>
          </a:p>
        </p:txBody>
      </p:sp>
      <p:pic>
        <p:nvPicPr>
          <p:cNvPr id="6" name="Picture 5">
            <a:extLst>
              <a:ext uri="{FF2B5EF4-FFF2-40B4-BE49-F238E27FC236}">
                <a16:creationId xmlns:a16="http://schemas.microsoft.com/office/drawing/2014/main" id="{0E6D6115-A649-E700-7654-3F406BBEDCC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9561379" y="434668"/>
            <a:ext cx="2217665" cy="1844040"/>
          </a:xfrm>
          <a:prstGeom prst="rect">
            <a:avLst/>
          </a:prstGeom>
          <a:noFill/>
          <a:ln>
            <a:noFill/>
          </a:ln>
        </p:spPr>
      </p:pic>
    </p:spTree>
    <p:extLst>
      <p:ext uri="{BB962C8B-B14F-4D97-AF65-F5344CB8AC3E}">
        <p14:creationId xmlns:p14="http://schemas.microsoft.com/office/powerpoint/2010/main" val="1006793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A18B-081D-A4BA-DA13-6C1C71812508}"/>
              </a:ext>
            </a:extLst>
          </p:cNvPr>
          <p:cNvSpPr>
            <a:spLocks noGrp="1"/>
          </p:cNvSpPr>
          <p:nvPr>
            <p:ph type="title"/>
          </p:nvPr>
        </p:nvSpPr>
        <p:spPr>
          <a:xfrm>
            <a:off x="838200" y="639225"/>
            <a:ext cx="10515600" cy="1325563"/>
          </a:xfrm>
        </p:spPr>
        <p:txBody>
          <a:bodyPr/>
          <a:lstStyle/>
          <a:p>
            <a:r>
              <a:rPr lang="en-US" b="1" dirty="0"/>
              <a:t> </a:t>
            </a:r>
            <a:r>
              <a:rPr lang="en-US" sz="2800" b="1" dirty="0">
                <a:latin typeface="Times New Roman" panose="02020603050405020304" pitchFamily="18" charset="0"/>
                <a:cs typeface="Times New Roman" panose="02020603050405020304" pitchFamily="18" charset="0"/>
              </a:rPr>
              <a:t>Introduction</a:t>
            </a:r>
            <a:br>
              <a:rPr lang="en-US" b="1" dirty="0"/>
            </a:br>
            <a:endParaRPr lang="en-IN" dirty="0"/>
          </a:p>
        </p:txBody>
      </p:sp>
      <p:sp>
        <p:nvSpPr>
          <p:cNvPr id="3" name="Content Placeholder 2">
            <a:extLst>
              <a:ext uri="{FF2B5EF4-FFF2-40B4-BE49-F238E27FC236}">
                <a16:creationId xmlns:a16="http://schemas.microsoft.com/office/drawing/2014/main" id="{DA1BEBF6-7482-438D-C8AC-8FB583159385}"/>
              </a:ext>
            </a:extLst>
          </p:cNvPr>
          <p:cNvSpPr>
            <a:spLocks noGrp="1"/>
          </p:cNvSpPr>
          <p:nvPr>
            <p:ph idx="1"/>
          </p:nvPr>
        </p:nvSpPr>
        <p:spPr>
          <a:xfrm>
            <a:off x="1005348" y="1409656"/>
            <a:ext cx="10515600" cy="4351338"/>
          </a:xfrm>
        </p:spPr>
        <p:txBody>
          <a:bodyPr>
            <a:normAutofit/>
          </a:bodyPr>
          <a:lstStyle/>
          <a:p>
            <a:pPr marL="0" indent="0" algn="just">
              <a:buNone/>
            </a:pPr>
            <a:r>
              <a:rPr lang="en-US" sz="2400" dirty="0"/>
              <a:t>This case study focuses on analyzing financial transaction data using SQL to understand customer behavior, transaction patterns, and overall financial activity. The objective is to transform raw transactional data into meaningful business insights that support better decision-making.</a:t>
            </a:r>
            <a:endParaRPr lang="en-IN" sz="2400" b="1" dirty="0">
              <a:latin typeface="Times New Roman" panose="02020603050405020304" pitchFamily="18" charset="0"/>
              <a:cs typeface="Times New Roman" panose="02020603050405020304" pitchFamily="18" charset="0"/>
            </a:endParaRPr>
          </a:p>
          <a:p>
            <a:pPr marL="0" indent="0">
              <a:buNone/>
            </a:pPr>
            <a:endParaRPr lang="en-IN" sz="4200" b="1"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D80D44FE-581A-91A9-6620-5A755DB30AEC}"/>
              </a:ext>
            </a:extLst>
          </p:cNvPr>
          <p:cNvSpPr txBox="1"/>
          <p:nvPr/>
        </p:nvSpPr>
        <p:spPr>
          <a:xfrm>
            <a:off x="1005348" y="3185216"/>
            <a:ext cx="3215148" cy="80021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Objectives</a:t>
            </a:r>
          </a:p>
          <a:p>
            <a:endParaRPr lang="en-IN" dirty="0"/>
          </a:p>
        </p:txBody>
      </p:sp>
      <p:sp>
        <p:nvSpPr>
          <p:cNvPr id="14" name="Rectangle 7">
            <a:extLst>
              <a:ext uri="{FF2B5EF4-FFF2-40B4-BE49-F238E27FC236}">
                <a16:creationId xmlns:a16="http://schemas.microsoft.com/office/drawing/2014/main" id="{8AC14B43-CF99-7F6B-4F4B-1ACE7EC245AA}"/>
              </a:ext>
            </a:extLst>
          </p:cNvPr>
          <p:cNvSpPr>
            <a:spLocks noChangeArrowheads="1"/>
          </p:cNvSpPr>
          <p:nvPr/>
        </p:nvSpPr>
        <p:spPr bwMode="auto">
          <a:xfrm>
            <a:off x="0" y="3845482"/>
            <a:ext cx="7285969"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257300" lvl="2"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financial data using SQL.</a:t>
            </a:r>
          </a:p>
          <a:p>
            <a:pPr marL="1257300" lvl="2"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revenue and transaction trends.</a:t>
            </a:r>
          </a:p>
          <a:p>
            <a:pPr marL="1257300" lvl="2"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high-value customers and transactions.</a:t>
            </a:r>
          </a:p>
          <a:p>
            <a:pPr marL="1257300" lvl="2" indent="-342900"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business and financial decisions.</a:t>
            </a:r>
          </a:p>
        </p:txBody>
      </p:sp>
    </p:spTree>
    <p:extLst>
      <p:ext uri="{BB962C8B-B14F-4D97-AF65-F5344CB8AC3E}">
        <p14:creationId xmlns:p14="http://schemas.microsoft.com/office/powerpoint/2010/main" val="3254895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8F4D9-4A79-0709-51C4-C060D26D76B4}"/>
              </a:ext>
            </a:extLst>
          </p:cNvPr>
          <p:cNvSpPr>
            <a:spLocks noGrp="1"/>
          </p:cNvSpPr>
          <p:nvPr>
            <p:ph type="title"/>
          </p:nvPr>
        </p:nvSpPr>
        <p:spPr>
          <a:xfrm>
            <a:off x="838200" y="542105"/>
            <a:ext cx="10515600" cy="1325563"/>
          </a:xfrm>
        </p:spPr>
        <p:txBody>
          <a:bodyPr/>
          <a:lstStyle/>
          <a:p>
            <a:r>
              <a:rPr lang="en-IN" sz="2800" b="1" dirty="0">
                <a:latin typeface="Times New Roman" panose="02020603050405020304" pitchFamily="18" charset="0"/>
                <a:cs typeface="Times New Roman" panose="02020603050405020304" pitchFamily="18" charset="0"/>
              </a:rPr>
              <a:t>Table Used:</a:t>
            </a:r>
            <a:br>
              <a:rPr lang="en-IN" dirty="0"/>
            </a:br>
            <a:endParaRPr lang="en-IN" dirty="0"/>
          </a:p>
        </p:txBody>
      </p:sp>
      <p:sp>
        <p:nvSpPr>
          <p:cNvPr id="4" name="Rectangle 1">
            <a:extLst>
              <a:ext uri="{FF2B5EF4-FFF2-40B4-BE49-F238E27FC236}">
                <a16:creationId xmlns:a16="http://schemas.microsoft.com/office/drawing/2014/main" id="{51478C4A-4098-E7AE-BE42-4D45E1AB6CC9}"/>
              </a:ext>
            </a:extLst>
          </p:cNvPr>
          <p:cNvSpPr>
            <a:spLocks noGrp="1" noChangeArrowheads="1"/>
          </p:cNvSpPr>
          <p:nvPr>
            <p:ph idx="1"/>
          </p:nvPr>
        </p:nvSpPr>
        <p:spPr bwMode="auto">
          <a:xfrm>
            <a:off x="947355" y="1204886"/>
            <a:ext cx="1990032" cy="168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Accounts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Transactions</a:t>
            </a:r>
          </a:p>
        </p:txBody>
      </p:sp>
      <p:sp>
        <p:nvSpPr>
          <p:cNvPr id="5" name="TextBox 4">
            <a:extLst>
              <a:ext uri="{FF2B5EF4-FFF2-40B4-BE49-F238E27FC236}">
                <a16:creationId xmlns:a16="http://schemas.microsoft.com/office/drawing/2014/main" id="{F72C1417-F59A-77EA-5A2E-8FF313270D40}"/>
              </a:ext>
            </a:extLst>
          </p:cNvPr>
          <p:cNvSpPr txBox="1"/>
          <p:nvPr/>
        </p:nvSpPr>
        <p:spPr>
          <a:xfrm>
            <a:off x="6540910" y="542105"/>
            <a:ext cx="2713703"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Key Columns:</a:t>
            </a:r>
          </a:p>
        </p:txBody>
      </p:sp>
      <p:sp>
        <p:nvSpPr>
          <p:cNvPr id="7" name="Rectangle 2">
            <a:extLst>
              <a:ext uri="{FF2B5EF4-FFF2-40B4-BE49-F238E27FC236}">
                <a16:creationId xmlns:a16="http://schemas.microsoft.com/office/drawing/2014/main" id="{2A025DD0-9480-9BB4-BF63-2BCB6D03F0FD}"/>
              </a:ext>
            </a:extLst>
          </p:cNvPr>
          <p:cNvSpPr>
            <a:spLocks noChangeArrowheads="1"/>
          </p:cNvSpPr>
          <p:nvPr/>
        </p:nvSpPr>
        <p:spPr bwMode="auto">
          <a:xfrm>
            <a:off x="6616801" y="1204886"/>
            <a:ext cx="2561920"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transaction_id</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customer_id</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transaction_date</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transaction_type</a:t>
            </a:r>
          </a:p>
          <a:p>
            <a:pPr marL="342900" lvl="0" indent="-342900" eaLnBrk="0" fontAlgn="base" hangingPunct="0">
              <a:lnSpc>
                <a:spcPct val="150000"/>
              </a:lnSpc>
              <a:spcBef>
                <a:spcPct val="0"/>
              </a:spcBef>
              <a:spcAft>
                <a:spcPct val="0"/>
              </a:spcAft>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amount</a:t>
            </a:r>
          </a:p>
        </p:txBody>
      </p:sp>
      <p:cxnSp>
        <p:nvCxnSpPr>
          <p:cNvPr id="9" name="Straight Connector 8">
            <a:extLst>
              <a:ext uri="{FF2B5EF4-FFF2-40B4-BE49-F238E27FC236}">
                <a16:creationId xmlns:a16="http://schemas.microsoft.com/office/drawing/2014/main" id="{DF46B8D8-C006-7312-1846-E8F07F0A2392}"/>
              </a:ext>
            </a:extLst>
          </p:cNvPr>
          <p:cNvCxnSpPr/>
          <p:nvPr/>
        </p:nvCxnSpPr>
        <p:spPr>
          <a:xfrm>
            <a:off x="5899355" y="344129"/>
            <a:ext cx="0" cy="584036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1197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8DEB2E-4A1D-C5D1-10D4-B22A8968348C}"/>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78AA4C35-511C-52A8-F1A1-21727E289AF9}"/>
              </a:ext>
            </a:extLst>
          </p:cNvPr>
          <p:cNvSpPr>
            <a:spLocks noGrp="1"/>
          </p:cNvSpPr>
          <p:nvPr>
            <p:ph type="title"/>
          </p:nvPr>
        </p:nvSpPr>
        <p:spPr>
          <a:xfrm>
            <a:off x="415413" y="790933"/>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1. </a:t>
            </a:r>
            <a:r>
              <a:rPr lang="en-US" sz="3100" dirty="0">
                <a:latin typeface="Times New Roman" panose="02020603050405020304" pitchFamily="18" charset="0"/>
                <a:cs typeface="Times New Roman" panose="02020603050405020304" pitchFamily="18" charset="0"/>
              </a:rPr>
              <a:t>Total Transaction Amount per Customer</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This query calculates the total transaction amount for each customer by aggregating all transactions across their accounts. It helps identify customers who contribute the highest transaction value to the business</a:t>
            </a:r>
            <a:r>
              <a:rPr lang="en-US" sz="2800"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97C116CB-582A-0FD1-9EBF-F84C858A241A}"/>
              </a:ext>
            </a:extLst>
          </p:cNvPr>
          <p:cNvCxnSpPr>
            <a:cxnSpLocks/>
          </p:cNvCxnSpPr>
          <p:nvPr/>
        </p:nvCxnSpPr>
        <p:spPr>
          <a:xfrm>
            <a:off x="415413" y="3195484"/>
            <a:ext cx="11304639"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9D9A867B-F6FD-29F6-675E-2B3F6D56BC34}"/>
              </a:ext>
            </a:extLst>
          </p:cNvPr>
          <p:cNvSpPr txBox="1"/>
          <p:nvPr/>
        </p:nvSpPr>
        <p:spPr>
          <a:xfrm>
            <a:off x="589935" y="3429000"/>
            <a:ext cx="10341078" cy="249299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Query 2. </a:t>
            </a:r>
            <a:r>
              <a:rPr lang="en-IN" sz="2800" dirty="0">
                <a:latin typeface="Times New Roman" panose="02020603050405020304" pitchFamily="18" charset="0"/>
                <a:cs typeface="Times New Roman" panose="02020603050405020304" pitchFamily="18" charset="0"/>
              </a:rPr>
              <a:t>City-Wise Total Transaction Amount</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Conclusion:</a:t>
            </a:r>
          </a:p>
          <a:p>
            <a:pPr algn="just"/>
            <a:r>
              <a:rPr lang="en-US" sz="2400" dirty="0">
                <a:latin typeface="Times New Roman" panose="02020603050405020304" pitchFamily="18" charset="0"/>
                <a:cs typeface="Times New Roman" panose="02020603050405020304" pitchFamily="18" charset="0"/>
              </a:rPr>
              <a:t>This query calculates the total transaction amount for each city by aggregating all customer transactions. It helps identify cities that contribute the highest financial activity to the business.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57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A0734-E3EE-7E92-D881-E2B8ED2A9D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ED8EB6-6E0C-FFA2-6A7E-B4A7279F9351}"/>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CF047E74-3918-6C7D-AB72-2D27D43733F3}"/>
              </a:ext>
            </a:extLst>
          </p:cNvPr>
          <p:cNvSpPr>
            <a:spLocks noGrp="1"/>
          </p:cNvSpPr>
          <p:nvPr>
            <p:ph type="title"/>
          </p:nvPr>
        </p:nvSpPr>
        <p:spPr>
          <a:xfrm>
            <a:off x="415413" y="790933"/>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3. </a:t>
            </a:r>
            <a:r>
              <a:rPr lang="en-US" sz="3100" dirty="0">
                <a:latin typeface="Times New Roman" panose="02020603050405020304" pitchFamily="18" charset="0"/>
                <a:cs typeface="Times New Roman" panose="02020603050405020304" pitchFamily="18" charset="0"/>
              </a:rPr>
              <a:t>Credit vs Debit Transaction Amount</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63F9201-1C53-7912-F81D-1D52024BBED2}"/>
              </a:ext>
            </a:extLst>
          </p:cNvPr>
          <p:cNvCxnSpPr>
            <a:cxnSpLocks/>
          </p:cNvCxnSpPr>
          <p:nvPr/>
        </p:nvCxnSpPr>
        <p:spPr>
          <a:xfrm>
            <a:off x="415413" y="3195484"/>
            <a:ext cx="11304639"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08808636-B0F0-C75B-8980-DB227A7D0F1C}"/>
              </a:ext>
            </a:extLst>
          </p:cNvPr>
          <p:cNvSpPr txBox="1"/>
          <p:nvPr/>
        </p:nvSpPr>
        <p:spPr>
          <a:xfrm>
            <a:off x="415413" y="3429000"/>
            <a:ext cx="10515600" cy="286232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Query 4. </a:t>
            </a:r>
            <a:r>
              <a:rPr lang="en-US" sz="2800" dirty="0">
                <a:latin typeface="Times New Roman" panose="02020603050405020304" pitchFamily="18" charset="0"/>
                <a:cs typeface="Times New Roman" panose="02020603050405020304" pitchFamily="18" charset="0"/>
              </a:rPr>
              <a:t>Customers Having More Than One Account</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Conclusion:</a:t>
            </a:r>
          </a:p>
          <a:p>
            <a:pPr algn="just"/>
            <a:r>
              <a:rPr lang="en-US" sz="2400" dirty="0">
                <a:latin typeface="Times New Roman" panose="02020603050405020304" pitchFamily="18" charset="0"/>
                <a:cs typeface="Times New Roman" panose="02020603050405020304" pitchFamily="18" charset="0"/>
              </a:rPr>
              <a:t>Approximately 52.4% of the customer base (262 individuals) holds more than one account, with every customer in this segment maintaining exactly two accounts. This high level of engagement suggests a standard pairing of Savings and Current accounts, reflecting strong institutional loyalty and active financial management. </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8D4083-90EF-9E2B-7536-5700BB15059A}"/>
              </a:ext>
            </a:extLst>
          </p:cNvPr>
          <p:cNvSpPr txBox="1"/>
          <p:nvPr/>
        </p:nvSpPr>
        <p:spPr>
          <a:xfrm>
            <a:off x="415413" y="1858298"/>
            <a:ext cx="10596716" cy="120032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total debit amount is higher than the credit amount, indicating that customers are withdrawing/spending more money than they are depositing, which may reflect higher consumption behavior or potential cash outflows from the system.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452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B3C29-00ED-7DC8-191A-2A4C3B2BA1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DAF51-35C9-36A7-CB5C-BC9872354A91}"/>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5C607365-6358-3293-CCCE-BED6F0FAC943}"/>
              </a:ext>
            </a:extLst>
          </p:cNvPr>
          <p:cNvSpPr>
            <a:spLocks noGrp="1"/>
          </p:cNvSpPr>
          <p:nvPr>
            <p:ph type="title"/>
          </p:nvPr>
        </p:nvSpPr>
        <p:spPr>
          <a:xfrm>
            <a:off x="415413" y="344786"/>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5. </a:t>
            </a:r>
            <a:r>
              <a:rPr lang="en-US" sz="3100" dirty="0">
                <a:latin typeface="Times New Roman" panose="02020603050405020304" pitchFamily="18" charset="0"/>
                <a:cs typeface="Times New Roman" panose="02020603050405020304" pitchFamily="18" charset="0"/>
              </a:rPr>
              <a:t>Average Transaction Amount per Account</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119246A1-C696-E3C5-AA07-9EB5EE53CD52}"/>
              </a:ext>
            </a:extLst>
          </p:cNvPr>
          <p:cNvCxnSpPr>
            <a:cxnSpLocks/>
          </p:cNvCxnSpPr>
          <p:nvPr/>
        </p:nvCxnSpPr>
        <p:spPr>
          <a:xfrm>
            <a:off x="502674" y="3679648"/>
            <a:ext cx="11304639"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DED3323-6894-1E8C-26C8-75ACC0BF4C7B}"/>
              </a:ext>
            </a:extLst>
          </p:cNvPr>
          <p:cNvSpPr txBox="1"/>
          <p:nvPr/>
        </p:nvSpPr>
        <p:spPr>
          <a:xfrm>
            <a:off x="502674" y="3675300"/>
            <a:ext cx="10341078" cy="1384995"/>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Query 6. </a:t>
            </a:r>
            <a:r>
              <a:rPr lang="en-US" sz="2800" dirty="0">
                <a:latin typeface="Times New Roman" panose="02020603050405020304" pitchFamily="18" charset="0"/>
                <a:cs typeface="Times New Roman" panose="02020603050405020304" pitchFamily="18" charset="0"/>
              </a:rPr>
              <a:t>Top 5 Highest Transactions</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Conclusion:</a:t>
            </a:r>
          </a:p>
        </p:txBody>
      </p:sp>
      <p:sp>
        <p:nvSpPr>
          <p:cNvPr id="2" name="TextBox 1">
            <a:extLst>
              <a:ext uri="{FF2B5EF4-FFF2-40B4-BE49-F238E27FC236}">
                <a16:creationId xmlns:a16="http://schemas.microsoft.com/office/drawing/2014/main" id="{FE3F20EB-83BC-FC83-A5B8-BA0205E9D17A}"/>
              </a:ext>
            </a:extLst>
          </p:cNvPr>
          <p:cNvSpPr txBox="1"/>
          <p:nvPr/>
        </p:nvSpPr>
        <p:spPr>
          <a:xfrm>
            <a:off x="443679" y="1366976"/>
            <a:ext cx="10853585" cy="230832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average transaction amount across all accounts is approximately 50,493, reflecting high liquidity and active fund movement within the bank. While individual averages vary significantly between 4,241 and 98,608, the high overall mean suggests a predominantly high-value transactional customer base. These insights are essential for identifying top-tier accounts and tailoring premium financial services to high-volume users.</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0CD369A-3E03-ED00-B5C9-C9D2135941EB}"/>
              </a:ext>
            </a:extLst>
          </p:cNvPr>
          <p:cNvSpPr txBox="1"/>
          <p:nvPr/>
        </p:nvSpPr>
        <p:spPr>
          <a:xfrm>
            <a:off x="502674" y="4935147"/>
            <a:ext cx="10656939"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top five transactions range from </a:t>
            </a:r>
            <a:r>
              <a:rPr lang="en-US" sz="2400" b="1" dirty="0">
                <a:latin typeface="Times New Roman" panose="02020603050405020304" pitchFamily="18" charset="0"/>
                <a:cs typeface="Times New Roman" panose="02020603050405020304" pitchFamily="18" charset="0"/>
              </a:rPr>
              <a:t>99,815</a:t>
            </a:r>
            <a:r>
              <a:rPr lang="en-US" sz="2400" dirty="0">
                <a:latin typeface="Times New Roman" panose="02020603050405020304" pitchFamily="18" charset="0"/>
                <a:cs typeface="Times New Roman" panose="02020603050405020304" pitchFamily="18" charset="0"/>
              </a:rPr>
              <a:t> to </a:t>
            </a:r>
            <a:r>
              <a:rPr lang="en-US" sz="2400" b="1" dirty="0">
                <a:latin typeface="Times New Roman" panose="02020603050405020304" pitchFamily="18" charset="0"/>
                <a:cs typeface="Times New Roman" panose="02020603050405020304" pitchFamily="18" charset="0"/>
              </a:rPr>
              <a:t>99,974</a:t>
            </a:r>
            <a:r>
              <a:rPr lang="en-US" sz="2400" dirty="0">
                <a:latin typeface="Times New Roman" panose="02020603050405020304" pitchFamily="18" charset="0"/>
                <a:cs typeface="Times New Roman" panose="02020603050405020304" pitchFamily="18" charset="0"/>
              </a:rPr>
              <a:t>, nearly reaching the 100,000 mark. Interestingly, 4 out of these 5 transactions are </a:t>
            </a:r>
            <a:r>
              <a:rPr lang="en-US" sz="2400" b="1" dirty="0">
                <a:latin typeface="Times New Roman" panose="02020603050405020304" pitchFamily="18" charset="0"/>
                <a:cs typeface="Times New Roman" panose="02020603050405020304" pitchFamily="18" charset="0"/>
              </a:rPr>
              <a:t>Credits</a:t>
            </a:r>
            <a:r>
              <a:rPr lang="en-US" sz="2400" dirty="0">
                <a:latin typeface="Times New Roman" panose="02020603050405020304" pitchFamily="18" charset="0"/>
                <a:cs typeface="Times New Roman" panose="02020603050405020304" pitchFamily="18" charset="0"/>
              </a:rPr>
              <a:t>, indicating significant individual deposits. Monitoring these high-value movements is key for identifying top-tier customers and maintaining bank liquidity.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4289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F28AF-E61B-C5C8-79F5-BDD158F565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5466A-09F7-F8B4-80A1-4E45B13AB776}"/>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FE52E9C8-A874-ADCA-BE86-C06D41EE621F}"/>
              </a:ext>
            </a:extLst>
          </p:cNvPr>
          <p:cNvSpPr>
            <a:spLocks noGrp="1"/>
          </p:cNvSpPr>
          <p:nvPr>
            <p:ph type="title"/>
          </p:nvPr>
        </p:nvSpPr>
        <p:spPr>
          <a:xfrm>
            <a:off x="415413" y="357034"/>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7. </a:t>
            </a:r>
            <a:r>
              <a:rPr lang="en-US" sz="3100" dirty="0">
                <a:latin typeface="Times New Roman" panose="02020603050405020304" pitchFamily="18" charset="0"/>
                <a:cs typeface="Times New Roman" panose="02020603050405020304" pitchFamily="18" charset="0"/>
              </a:rPr>
              <a:t>Monthly Transaction Amount Trend</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3E987DF2-927B-5188-A14A-670E1EA7AE70}"/>
              </a:ext>
            </a:extLst>
          </p:cNvPr>
          <p:cNvCxnSpPr>
            <a:cxnSpLocks/>
          </p:cNvCxnSpPr>
          <p:nvPr/>
        </p:nvCxnSpPr>
        <p:spPr>
          <a:xfrm>
            <a:off x="415413" y="3429000"/>
            <a:ext cx="11304639"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D10E745-EAB1-58F7-D2A5-CAE2455309F9}"/>
              </a:ext>
            </a:extLst>
          </p:cNvPr>
          <p:cNvSpPr txBox="1"/>
          <p:nvPr/>
        </p:nvSpPr>
        <p:spPr>
          <a:xfrm>
            <a:off x="415413" y="3531503"/>
            <a:ext cx="10515600" cy="286232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Query 8. </a:t>
            </a:r>
            <a:r>
              <a:rPr lang="en-US" sz="2800" dirty="0">
                <a:latin typeface="Times New Roman" panose="02020603050405020304" pitchFamily="18" charset="0"/>
                <a:cs typeface="Times New Roman" panose="02020603050405020304" pitchFamily="18" charset="0"/>
              </a:rPr>
              <a:t>Customers with Only Debit Transactions</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Conclusion:</a:t>
            </a:r>
          </a:p>
          <a:p>
            <a:pPr algn="just"/>
            <a:r>
              <a:rPr lang="en-US" sz="2400" dirty="0"/>
              <a:t>This segment represents a prime opportunity for </a:t>
            </a:r>
            <a:r>
              <a:rPr lang="en-US" sz="2400" b="1" dirty="0"/>
              <a:t>"Deposit Growth" campaigns</a:t>
            </a:r>
            <a:r>
              <a:rPr lang="en-US" sz="2400" dirty="0"/>
              <a:t>. The bank can target these individuals with incentives such as cash-back on deposits, high-yield savings interest alerts, or automated "round-up" savings tools to encourage fund accumulation.</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C509AE-944A-C68E-EAB6-D54DA1F22370}"/>
              </a:ext>
            </a:extLst>
          </p:cNvPr>
          <p:cNvSpPr txBox="1"/>
          <p:nvPr/>
        </p:nvSpPr>
        <p:spPr>
          <a:xfrm>
            <a:off x="415413" y="1387506"/>
            <a:ext cx="10596716" cy="193899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transaction volume peaked in January 2024 at approximately 24.17 million, followed by a stabilizing trend averaging around 21–22 million in subsequent months. This early-year surge suggests high post-holiday or beginning-of-year financial activity. Monitoring these monthly fluctuations helps the bank manage cash reserves and predict seasonal liquidity demands.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7976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509C-CB5B-BD20-5D93-6E5F43983B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985032-80DA-3AEF-B935-BA2E9A2B877F}"/>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C3BD152B-72E6-A20A-D272-441FDFBA3D6B}"/>
              </a:ext>
            </a:extLst>
          </p:cNvPr>
          <p:cNvSpPr>
            <a:spLocks noGrp="1"/>
          </p:cNvSpPr>
          <p:nvPr>
            <p:ph type="title"/>
          </p:nvPr>
        </p:nvSpPr>
        <p:spPr>
          <a:xfrm>
            <a:off x="415413" y="299220"/>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9. </a:t>
            </a:r>
            <a:r>
              <a:rPr lang="en-US" sz="3100" dirty="0">
                <a:latin typeface="Times New Roman" panose="02020603050405020304" pitchFamily="18" charset="0"/>
                <a:cs typeface="Times New Roman" panose="02020603050405020304" pitchFamily="18" charset="0"/>
              </a:rPr>
              <a:t>Highest Transaction Amount per City</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9A08A3B4-00C7-37D0-6CED-EDC421EAD6BE}"/>
              </a:ext>
            </a:extLst>
          </p:cNvPr>
          <p:cNvCxnSpPr>
            <a:cxnSpLocks/>
          </p:cNvCxnSpPr>
          <p:nvPr/>
        </p:nvCxnSpPr>
        <p:spPr>
          <a:xfrm>
            <a:off x="415413" y="3313471"/>
            <a:ext cx="11304639"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9E9E6CF-695C-AFC3-6D81-D56B279DC12F}"/>
              </a:ext>
            </a:extLst>
          </p:cNvPr>
          <p:cNvSpPr txBox="1"/>
          <p:nvPr/>
        </p:nvSpPr>
        <p:spPr>
          <a:xfrm>
            <a:off x="415413" y="3429000"/>
            <a:ext cx="10515600" cy="2862322"/>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Query 10. </a:t>
            </a:r>
            <a:r>
              <a:rPr lang="en-US" sz="2800" dirty="0">
                <a:latin typeface="Times New Roman" panose="02020603050405020304" pitchFamily="18" charset="0"/>
                <a:cs typeface="Times New Roman" panose="02020603050405020304" pitchFamily="18" charset="0"/>
              </a:rPr>
              <a:t>Customers Having More Than One Account</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Conclusion:</a:t>
            </a:r>
          </a:p>
          <a:p>
            <a:pPr algn="just"/>
            <a:r>
              <a:rPr lang="en-US" sz="2400" dirty="0">
                <a:latin typeface="Times New Roman" panose="02020603050405020304" pitchFamily="18" charset="0"/>
                <a:cs typeface="Times New Roman" panose="02020603050405020304" pitchFamily="18" charset="0"/>
              </a:rPr>
              <a:t>The bank maintains a robust 60% active user rate and high customer loyalty, with over half the base holding multiple accounts. Financial health is strong, featuring an average transaction of $50,493 evenly distributed across major cities, alongside a key growth opportunity in converting debit-only users into depositors.</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30E9D0A-8002-8C9A-28B9-F9C2AB3A626F}"/>
              </a:ext>
            </a:extLst>
          </p:cNvPr>
          <p:cNvSpPr txBox="1"/>
          <p:nvPr/>
        </p:nvSpPr>
        <p:spPr>
          <a:xfrm>
            <a:off x="374855" y="1284310"/>
            <a:ext cx="10596716" cy="193899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highest transaction amounts are remarkably consistent across all major cities, with </a:t>
            </a:r>
            <a:r>
              <a:rPr lang="en-US" sz="2400" b="1" dirty="0">
                <a:latin typeface="Times New Roman" panose="02020603050405020304" pitchFamily="18" charset="0"/>
                <a:cs typeface="Times New Roman" panose="02020603050405020304" pitchFamily="18" charset="0"/>
              </a:rPr>
              <a:t>Chennai</a:t>
            </a:r>
            <a:r>
              <a:rPr lang="en-US" sz="2400" dirty="0">
                <a:latin typeface="Times New Roman" panose="02020603050405020304" pitchFamily="18" charset="0"/>
                <a:cs typeface="Times New Roman" panose="02020603050405020304" pitchFamily="18" charset="0"/>
              </a:rPr>
              <a:t> leading at </a:t>
            </a:r>
            <a:r>
              <a:rPr lang="en-US" sz="2400" b="1" dirty="0">
                <a:latin typeface="Times New Roman" panose="02020603050405020304" pitchFamily="18" charset="0"/>
                <a:cs typeface="Times New Roman" panose="02020603050405020304" pitchFamily="18" charset="0"/>
              </a:rPr>
              <a:t>99,974</a:t>
            </a:r>
            <a:r>
              <a:rPr lang="en-US" sz="2400" dirty="0">
                <a:latin typeface="Times New Roman" panose="02020603050405020304" pitchFamily="18" charset="0"/>
                <a:cs typeface="Times New Roman" panose="02020603050405020304" pitchFamily="18" charset="0"/>
              </a:rPr>
              <a:t>, followed closely by </a:t>
            </a:r>
            <a:r>
              <a:rPr lang="en-US" sz="2400" b="1" dirty="0">
                <a:latin typeface="Times New Roman" panose="02020603050405020304" pitchFamily="18" charset="0"/>
                <a:cs typeface="Times New Roman" panose="02020603050405020304" pitchFamily="18" charset="0"/>
              </a:rPr>
              <a:t>Mumbai</a:t>
            </a:r>
            <a:r>
              <a:rPr lang="en-US" sz="2400" dirty="0">
                <a:latin typeface="Times New Roman" panose="02020603050405020304" pitchFamily="18" charset="0"/>
                <a:cs typeface="Times New Roman" panose="02020603050405020304" pitchFamily="18" charset="0"/>
              </a:rPr>
              <a:t>. Every city in the dataset recorded a peak transaction nearly reaching the </a:t>
            </a:r>
            <a:r>
              <a:rPr lang="en-US" sz="2400" b="1" dirty="0">
                <a:latin typeface="Times New Roman" panose="02020603050405020304" pitchFamily="18" charset="0"/>
                <a:cs typeface="Times New Roman" panose="02020603050405020304" pitchFamily="18" charset="0"/>
              </a:rPr>
              <a:t>100,000</a:t>
            </a:r>
            <a:r>
              <a:rPr lang="en-US" sz="2400" dirty="0">
                <a:latin typeface="Times New Roman" panose="02020603050405020304" pitchFamily="18" charset="0"/>
                <a:cs typeface="Times New Roman" panose="02020603050405020304" pitchFamily="18" charset="0"/>
              </a:rPr>
              <a:t> limit. This indicates that high-value financial activity is evenly distributed across the bank's geographic footprint rather than being concentrated in a single hub.</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867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E64AB-8516-E404-292B-A1483E9C75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8387EA-21A5-9732-0202-624912462175}"/>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EFFA5738-BA3D-4E10-3D6C-3AC11DCB7A29}"/>
              </a:ext>
            </a:extLst>
          </p:cNvPr>
          <p:cNvSpPr>
            <a:spLocks noGrp="1"/>
          </p:cNvSpPr>
          <p:nvPr>
            <p:ph type="title"/>
          </p:nvPr>
        </p:nvSpPr>
        <p:spPr>
          <a:xfrm>
            <a:off x="374855" y="344786"/>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11. </a:t>
            </a:r>
            <a:r>
              <a:rPr lang="en-US" dirty="0"/>
              <a:t> </a:t>
            </a:r>
            <a:r>
              <a:rPr lang="en-US" sz="3100" dirty="0">
                <a:latin typeface="Times New Roman" panose="02020603050405020304" pitchFamily="18" charset="0"/>
                <a:cs typeface="Times New Roman" panose="02020603050405020304" pitchFamily="18" charset="0"/>
              </a:rPr>
              <a:t>Total Balance by Account Type</a:t>
            </a:r>
            <a:br>
              <a:rPr lang="en-US" sz="3100" dirty="0">
                <a:latin typeface="Times New Roman" panose="02020603050405020304" pitchFamily="18" charset="0"/>
                <a:cs typeface="Times New Roman" panose="02020603050405020304" pitchFamily="18" charset="0"/>
              </a:rPr>
            </a:br>
            <a:br>
              <a:rPr lang="en-US" dirty="0"/>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321313B1-65FA-3736-805B-A5C26B93F199}"/>
              </a:ext>
            </a:extLst>
          </p:cNvPr>
          <p:cNvCxnSpPr>
            <a:cxnSpLocks/>
          </p:cNvCxnSpPr>
          <p:nvPr/>
        </p:nvCxnSpPr>
        <p:spPr>
          <a:xfrm>
            <a:off x="415413" y="3313471"/>
            <a:ext cx="11304639" cy="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5F76BE7A-103B-9D5B-53A3-F95C4D7262C2}"/>
              </a:ext>
            </a:extLst>
          </p:cNvPr>
          <p:cNvSpPr txBox="1"/>
          <p:nvPr/>
        </p:nvSpPr>
        <p:spPr>
          <a:xfrm>
            <a:off x="415413" y="3429000"/>
            <a:ext cx="10515600" cy="3231654"/>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Query 12. </a:t>
            </a:r>
            <a:r>
              <a:rPr lang="en-US" sz="2800" dirty="0">
                <a:latin typeface="Times New Roman" panose="02020603050405020304" pitchFamily="18" charset="0"/>
                <a:cs typeface="Times New Roman" panose="02020603050405020304" pitchFamily="18" charset="0"/>
              </a:rPr>
              <a:t>Customers Whose Average Transaction &gt; Overall Average</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Conclusion:</a:t>
            </a:r>
          </a:p>
          <a:p>
            <a:pPr algn="just"/>
            <a:r>
              <a:rPr lang="en-US" sz="2400" dirty="0">
                <a:latin typeface="Times New Roman" panose="02020603050405020304" pitchFamily="18" charset="0"/>
                <a:cs typeface="Times New Roman" panose="02020603050405020304" pitchFamily="18" charset="0"/>
              </a:rPr>
              <a:t>Approximately </a:t>
            </a:r>
            <a:r>
              <a:rPr lang="en-US" sz="2400" b="1" dirty="0">
                <a:latin typeface="Times New Roman" panose="02020603050405020304" pitchFamily="18" charset="0"/>
                <a:cs typeface="Times New Roman" panose="02020603050405020304" pitchFamily="18" charset="0"/>
              </a:rPr>
              <a:t>51.4% of customers (257 individuals)</a:t>
            </a:r>
            <a:r>
              <a:rPr lang="en-US" sz="2400" dirty="0">
                <a:latin typeface="Times New Roman" panose="02020603050405020304" pitchFamily="18" charset="0"/>
                <a:cs typeface="Times New Roman" panose="02020603050405020304" pitchFamily="18" charset="0"/>
              </a:rPr>
              <a:t> maintain an average transaction value higher than the bank-wide mean of </a:t>
            </a:r>
            <a:r>
              <a:rPr lang="en-US" sz="2400" b="1" dirty="0">
                <a:latin typeface="Times New Roman" panose="02020603050405020304" pitchFamily="18" charset="0"/>
                <a:cs typeface="Times New Roman" panose="02020603050405020304" pitchFamily="18" charset="0"/>
              </a:rPr>
              <a:t>$50,429</a:t>
            </a:r>
            <a:r>
              <a:rPr lang="en-US" sz="2400" dirty="0">
                <a:latin typeface="Times New Roman" panose="02020603050405020304" pitchFamily="18" charset="0"/>
                <a:cs typeface="Times New Roman" panose="02020603050405020304" pitchFamily="18" charset="0"/>
              </a:rPr>
              <a:t>. This balanced distribution suggests a strong middle-to-high-tier client base, providing a consistent and stable flow of high-value transactions across more than half of the institution's customers.</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FF3579C-5392-CAB3-8155-41E93CFC8762}"/>
              </a:ext>
            </a:extLst>
          </p:cNvPr>
          <p:cNvSpPr txBox="1"/>
          <p:nvPr/>
        </p:nvSpPr>
        <p:spPr>
          <a:xfrm>
            <a:off x="374855" y="1491010"/>
            <a:ext cx="10676603" cy="1569660"/>
          </a:xfrm>
          <a:prstGeom prst="rect">
            <a:avLst/>
          </a:prstGeom>
          <a:noFill/>
        </p:spPr>
        <p:txBody>
          <a:bodyPr wrap="square" rtlCol="0">
            <a:spAutoFit/>
          </a:bodyPr>
          <a:lstStyle/>
          <a:p>
            <a:pPr algn="just"/>
            <a:r>
              <a:rPr lang="en-US" sz="2400" dirty="0"/>
              <a:t>The bank maintains a nearly equal capital distribution, with </a:t>
            </a:r>
            <a:r>
              <a:rPr lang="en-US" sz="2400" b="1" dirty="0"/>
              <a:t>Current accounts</a:t>
            </a:r>
            <a:r>
              <a:rPr lang="en-US" sz="2400" dirty="0"/>
              <a:t> holding approximately </a:t>
            </a:r>
            <a:r>
              <a:rPr lang="en-US" sz="2400" b="1" dirty="0"/>
              <a:t>$102 million (51.8%)</a:t>
            </a:r>
            <a:r>
              <a:rPr lang="en-US" sz="2400" dirty="0"/>
              <a:t> and </a:t>
            </a:r>
            <a:r>
              <a:rPr lang="en-US" sz="2400" b="1" dirty="0"/>
              <a:t>Savings accounts</a:t>
            </a:r>
            <a:r>
              <a:rPr lang="en-US" sz="2400" dirty="0"/>
              <a:t> following at </a:t>
            </a:r>
            <a:r>
              <a:rPr lang="en-US" sz="2400" b="1" dirty="0"/>
              <a:t>$95 million (48.2%)</a:t>
            </a:r>
            <a:r>
              <a:rPr lang="en-US" sz="2400" dirty="0"/>
              <a:t>. This balance indicates a healthy mix of high-liquidity transactional funds and stable long-term deposits across the institution.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390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F3F68-A957-CA00-FE7C-4E3FD1CA58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177869-D0DE-9A03-798D-356BF3D15CC8}"/>
              </a:ext>
            </a:extLst>
          </p:cNvPr>
          <p:cNvSpPr>
            <a:spLocks noGrp="1"/>
          </p:cNvSpPr>
          <p:nvPr>
            <p:ph idx="1"/>
          </p:nvPr>
        </p:nvSpPr>
        <p:spPr>
          <a:xfrm>
            <a:off x="415413" y="181333"/>
            <a:ext cx="10515600" cy="4351338"/>
          </a:xfrm>
        </p:spPr>
        <p:txBody>
          <a:bodyPr>
            <a:normAutofit/>
          </a:bodyPr>
          <a:lstStyle/>
          <a:p>
            <a:pPr marL="0" indent="0">
              <a:buNone/>
            </a:pPr>
            <a:r>
              <a:rPr lang="en-US" dirty="0"/>
              <a:t> </a:t>
            </a:r>
            <a:endParaRPr lang="en-IN" dirty="0"/>
          </a:p>
        </p:txBody>
      </p:sp>
      <p:sp>
        <p:nvSpPr>
          <p:cNvPr id="6" name="Title 5">
            <a:extLst>
              <a:ext uri="{FF2B5EF4-FFF2-40B4-BE49-F238E27FC236}">
                <a16:creationId xmlns:a16="http://schemas.microsoft.com/office/drawing/2014/main" id="{FD53E059-AF35-7007-EC82-A59EAB6B6E1D}"/>
              </a:ext>
            </a:extLst>
          </p:cNvPr>
          <p:cNvSpPr>
            <a:spLocks noGrp="1"/>
          </p:cNvSpPr>
          <p:nvPr>
            <p:ph type="title"/>
          </p:nvPr>
        </p:nvSpPr>
        <p:spPr>
          <a:xfrm>
            <a:off x="374855" y="344786"/>
            <a:ext cx="10515600" cy="1325563"/>
          </a:xfrm>
        </p:spPr>
        <p:txBody>
          <a:bodyPr>
            <a:normAutofit fontScale="90000"/>
          </a:bodyPr>
          <a:lstStyle/>
          <a:p>
            <a:r>
              <a:rPr lang="en-IN" sz="3100" b="1" dirty="0">
                <a:latin typeface="Times New Roman" panose="02020603050405020304" pitchFamily="18" charset="0"/>
                <a:cs typeface="Times New Roman" panose="02020603050405020304" pitchFamily="18" charset="0"/>
              </a:rPr>
              <a:t>Query 13. </a:t>
            </a:r>
            <a:r>
              <a:rPr lang="en-US" dirty="0"/>
              <a:t> </a:t>
            </a:r>
            <a:r>
              <a:rPr lang="en-US" sz="3100" dirty="0">
                <a:latin typeface="Times New Roman" panose="02020603050405020304" pitchFamily="18" charset="0"/>
                <a:cs typeface="Times New Roman" panose="02020603050405020304" pitchFamily="18" charset="0"/>
              </a:rPr>
              <a:t>Number of Transactions per Customer</a:t>
            </a:r>
            <a:br>
              <a:rPr lang="en-US" sz="3100" dirty="0">
                <a:latin typeface="Times New Roman" panose="02020603050405020304" pitchFamily="18" charset="0"/>
                <a:cs typeface="Times New Roman" panose="02020603050405020304" pitchFamily="18" charset="0"/>
              </a:rPr>
            </a:br>
            <a:br>
              <a:rPr lang="en-US" dirty="0"/>
            </a:br>
            <a:r>
              <a:rPr lang="en-US" sz="3100" b="1" dirty="0">
                <a:latin typeface="Times New Roman" panose="02020603050405020304" pitchFamily="18" charset="0"/>
                <a:cs typeface="Times New Roman" panose="02020603050405020304" pitchFamily="18" charset="0"/>
              </a:rPr>
              <a:t>Conclusion: </a:t>
            </a:r>
            <a:br>
              <a:rPr lang="en-US" sz="28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3DAF71-2A5B-7E2D-EF85-3B2396E2A441}"/>
              </a:ext>
            </a:extLst>
          </p:cNvPr>
          <p:cNvSpPr txBox="1"/>
          <p:nvPr/>
        </p:nvSpPr>
        <p:spPr>
          <a:xfrm>
            <a:off x="374855" y="1491010"/>
            <a:ext cx="10676603" cy="230832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data reveals a highly active and engaged customer base, with most individuals performing multiple transactions across their accounts. This frequent interaction suggests that the bank serves as a primary financial hub for its clients, rather than a secondary or stagnant repository. High transaction counts are a strong indicator of "customer stickiness," providing the bank with numerous touchpoints to offer personalized financial products or loyalty rewards to its most frequent users.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145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39D93-1E6C-8AE7-4213-5EB40A386312}"/>
              </a:ext>
            </a:extLst>
          </p:cNvPr>
          <p:cNvSpPr>
            <a:spLocks noGrp="1"/>
          </p:cNvSpPr>
          <p:nvPr>
            <p:ph type="title"/>
          </p:nvPr>
        </p:nvSpPr>
        <p:spPr>
          <a:xfrm>
            <a:off x="503903" y="138983"/>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Key Business Insights (Analytics Outcome)</a:t>
            </a:r>
            <a:br>
              <a:rPr lang="en-US" sz="3600" dirty="0"/>
            </a:br>
            <a:endParaRPr lang="en-IN" sz="3600" dirty="0"/>
          </a:p>
        </p:txBody>
      </p:sp>
      <p:sp>
        <p:nvSpPr>
          <p:cNvPr id="3" name="Content Placeholder 2">
            <a:extLst>
              <a:ext uri="{FF2B5EF4-FFF2-40B4-BE49-F238E27FC236}">
                <a16:creationId xmlns:a16="http://schemas.microsoft.com/office/drawing/2014/main" id="{69B1B38C-E82D-B8EC-5899-EF85C2306F8B}"/>
              </a:ext>
            </a:extLst>
          </p:cNvPr>
          <p:cNvSpPr>
            <a:spLocks noGrp="1"/>
          </p:cNvSpPr>
          <p:nvPr>
            <p:ph idx="1"/>
          </p:nvPr>
        </p:nvSpPr>
        <p:spPr>
          <a:xfrm>
            <a:off x="651387" y="904108"/>
            <a:ext cx="11117826" cy="4351338"/>
          </a:xfrm>
        </p:spPr>
        <p:txBody>
          <a:bodyPr>
            <a:normAutofit/>
          </a:bodyPr>
          <a:lstStyle/>
          <a:p>
            <a:pPr>
              <a:lnSpc>
                <a:spcPct val="100000"/>
              </a:lnSpc>
              <a:buFont typeface="Wingdings" panose="05000000000000000000" pitchFamily="2" charset="2"/>
              <a:buChar char="Ø"/>
            </a:pPr>
            <a:r>
              <a:rPr lang="en-US" sz="2400" dirty="0"/>
              <a:t>Transaction volume shows time-based trends</a:t>
            </a:r>
          </a:p>
          <a:p>
            <a:pPr>
              <a:lnSpc>
                <a:spcPct val="100000"/>
              </a:lnSpc>
              <a:buFont typeface="Wingdings" panose="05000000000000000000" pitchFamily="2" charset="2"/>
              <a:buChar char="Ø"/>
            </a:pPr>
            <a:r>
              <a:rPr lang="en-US" sz="2400" dirty="0"/>
              <a:t>A small group of customers contributes high transaction value</a:t>
            </a:r>
          </a:p>
          <a:p>
            <a:pPr>
              <a:lnSpc>
                <a:spcPct val="100000"/>
              </a:lnSpc>
              <a:buFont typeface="Wingdings" panose="05000000000000000000" pitchFamily="2" charset="2"/>
              <a:buChar char="Ø"/>
            </a:pPr>
            <a:r>
              <a:rPr lang="en-US" sz="2400" dirty="0"/>
              <a:t>High-value transactions need monitoring</a:t>
            </a:r>
          </a:p>
          <a:p>
            <a:pPr>
              <a:lnSpc>
                <a:spcPct val="100000"/>
              </a:lnSpc>
              <a:buFont typeface="Wingdings" panose="05000000000000000000" pitchFamily="2" charset="2"/>
              <a:buChar char="Ø"/>
            </a:pPr>
            <a:r>
              <a:rPr lang="en-US" sz="2400" dirty="0"/>
              <a:t>Inactive customers indicate churn risk</a:t>
            </a:r>
            <a:endParaRPr lang="en-IN" dirty="0"/>
          </a:p>
        </p:txBody>
      </p:sp>
      <p:sp>
        <p:nvSpPr>
          <p:cNvPr id="4" name="TextBox 3">
            <a:extLst>
              <a:ext uri="{FF2B5EF4-FFF2-40B4-BE49-F238E27FC236}">
                <a16:creationId xmlns:a16="http://schemas.microsoft.com/office/drawing/2014/main" id="{6084DFB4-780F-5ECA-8A0D-C8DCDB589397}"/>
              </a:ext>
            </a:extLst>
          </p:cNvPr>
          <p:cNvSpPr txBox="1"/>
          <p:nvPr/>
        </p:nvSpPr>
        <p:spPr>
          <a:xfrm>
            <a:off x="651386" y="3429000"/>
            <a:ext cx="3795252"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Final Conclusion</a:t>
            </a:r>
            <a:endParaRPr lang="en-IN" sz="2800" dirty="0"/>
          </a:p>
        </p:txBody>
      </p:sp>
      <p:sp>
        <p:nvSpPr>
          <p:cNvPr id="5" name="TextBox 4">
            <a:extLst>
              <a:ext uri="{FF2B5EF4-FFF2-40B4-BE49-F238E27FC236}">
                <a16:creationId xmlns:a16="http://schemas.microsoft.com/office/drawing/2014/main" id="{1DD83F4F-CCAE-6563-39C9-189E83886452}"/>
              </a:ext>
            </a:extLst>
          </p:cNvPr>
          <p:cNvSpPr txBox="1"/>
          <p:nvPr/>
        </p:nvSpPr>
        <p:spPr>
          <a:xfrm>
            <a:off x="651386" y="3952220"/>
            <a:ext cx="10368117" cy="1200329"/>
          </a:xfrm>
          <a:prstGeom prst="rect">
            <a:avLst/>
          </a:prstGeom>
          <a:noFill/>
        </p:spPr>
        <p:txBody>
          <a:bodyPr wrap="square" rtlCol="0">
            <a:spAutoFit/>
          </a:bodyPr>
          <a:lstStyle/>
          <a:p>
            <a:pPr algn="just"/>
            <a:r>
              <a:rPr lang="en-US" sz="2400" dirty="0"/>
              <a:t>SQL-based financial analysis helps uncover transaction patterns, customer behavior, and operational insights. These findings support strategic planning, risk management, and improved customer engagement.</a:t>
            </a:r>
            <a:endParaRPr lang="en-IN" dirty="0"/>
          </a:p>
        </p:txBody>
      </p:sp>
    </p:spTree>
    <p:extLst>
      <p:ext uri="{BB962C8B-B14F-4D97-AF65-F5344CB8AC3E}">
        <p14:creationId xmlns:p14="http://schemas.microsoft.com/office/powerpoint/2010/main" val="3884870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ank you logo Images - Free Download on Freepik">
            <a:extLst>
              <a:ext uri="{FF2B5EF4-FFF2-40B4-BE49-F238E27FC236}">
                <a16:creationId xmlns:a16="http://schemas.microsoft.com/office/drawing/2014/main" id="{44EC12D2-98A7-AD02-3B33-DBDEA07C2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0547" y="1700980"/>
            <a:ext cx="3970905" cy="288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857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215</TotalTime>
  <Words>997</Words>
  <Application>Microsoft Office PowerPoint</Application>
  <PresentationFormat>Widescreen</PresentationFormat>
  <Paragraphs>74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Financial Data Analysis using SQL</vt:lpstr>
      <vt:lpstr> Introduction </vt:lpstr>
      <vt:lpstr>Table Used: </vt:lpstr>
      <vt:lpstr>Query 1. Total Transaction Amount per Customer  Conclusion:  This query calculates the total transaction amount for each customer by aggregating all transactions across their accounts. It helps identify customers who contribute the highest transaction value to the business.</vt:lpstr>
      <vt:lpstr>Query 3. Credit vs Debit Transaction Amount  Conclusion:  </vt:lpstr>
      <vt:lpstr>Query 5. Average Transaction Amount per Account  Conclusion:  </vt:lpstr>
      <vt:lpstr>Query 7. Monthly Transaction Amount Trend  Conclusion:  </vt:lpstr>
      <vt:lpstr>Query 9. Highest Transaction Amount per City  Conclusion:  </vt:lpstr>
      <vt:lpstr>Query 11.  Total Balance by Account Type  Conclusion:  </vt:lpstr>
      <vt:lpstr>Query 13.  Number of Transactions per Customer  Conclusion:  </vt:lpstr>
      <vt:lpstr>Key Business Insights (Analytics Outcome)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Siddhika Wake</dc:creator>
  <cp:lastModifiedBy>Siddhika Wake</cp:lastModifiedBy>
  <cp:revision>2</cp:revision>
  <dcterms:created xsi:type="dcterms:W3CDTF">2025-12-26T09:12:40Z</dcterms:created>
  <dcterms:modified xsi:type="dcterms:W3CDTF">2026-01-21T11:49:11Z</dcterms:modified>
</cp:coreProperties>
</file>